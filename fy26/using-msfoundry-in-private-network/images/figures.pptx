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2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166C75-AD8C-E3E2-8DD2-5124C5E1BF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F9E10E9-3F2E-FC2D-6C32-78C331780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B7AD80-1704-DE7C-E2E5-1862D45B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E0EE7-8750-1803-903C-7E92D0697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E1F86C-27BE-D053-A33A-6D92992F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537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90E29D-83F0-A0FA-8950-62595FEC7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EBC7E2-F1A0-FFED-37E9-4A45F36B9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2271C9-C807-B54A-0A6B-39971C2A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52DF68-DA89-8D05-5053-DDF240BD6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4E80AE-4253-42C2-18D8-2C6200EBA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748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0A3D9-38FD-E46E-CF01-4BF38C39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848E43-4F01-CCCA-A770-1D9F5D58C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BC7A3E-303A-3D67-214B-F49DBF763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0A7B30-0A3B-CE0E-D872-DB6375140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1D50FE-4B0E-A19E-9E6C-A1662E818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5386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DADD2-933A-A761-5E63-7B5A7102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42FFF2-BC70-1DFE-45B0-5C8DFB782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C71F099-88A8-1649-3D3B-D301D7801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C836D28-22B1-5F42-006D-D9BAD73AD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9F97D3-6B52-3BF2-5F42-8EC2E4BF9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196A1-BCEE-7D4D-95FC-2B1597AB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5220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0629C3-4930-5311-2DB9-48209117B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37B911-46E2-6925-E4D3-BE9BB6688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D5F1BED-7FD2-D853-DF2E-11FD94BC5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1B8F01-0435-2C54-D3D5-7AD22B1658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62C72A0-3CDD-ED28-4DEF-A1BF6BA9D1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6CCC58C-7C68-0380-C1BB-1FA6ED602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0A90E9-08C5-A1C4-458A-E935EC048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A9BE7-2C69-ED89-A02A-42DE16451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72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6154A8-4EF0-28B9-531F-5095F37F9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7ED80E8-A0D1-0067-99B2-B4057E6A5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672BA82-1B49-E755-8ED0-5E170C2E3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6A011AB-5EF2-5D9F-B02B-F327BF142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544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799C19D-EDEE-B789-3124-7F6DD87CF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F2AD86C-BEAC-3BEC-587E-9425DF41D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992E84-C2A9-7614-9344-2D6A341DB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0105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99D359-2584-0906-C341-0884E386B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B9673C-6069-FD2D-24A5-04B8D090D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75C870E-26B8-1070-44C5-446D09160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68F3C2-FB19-AF6B-67CE-5052C863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3FCE87-3A3A-47D4-00FE-3AB8926F2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48C8A29-BF71-F9AE-7097-DA15A55EE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0976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F9A9B7-D757-2ABB-F38B-967BCBC4F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D14535-A28F-65B3-8220-193FBE0FA1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623954-6CF2-4358-DC58-826EB3E7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01191D-6FAD-CC18-7D58-CDB770D7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7C5130-FCB7-8935-46D6-C0ED6F25E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40F959-FDC6-7514-9582-01808A8A1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1372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A323B9-3738-3245-3378-F960330A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6A96D1-946A-B5D7-D911-25D639E65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C96F7E-D9A4-3ECE-DC26-FA28C4CDC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843EB4-8584-C9F1-AE27-3B71AE7CD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FCBD2-671C-2EB1-05B3-FD111383B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8155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7CAABD0-23AE-CF10-A61D-6B1DA2718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7659E1F-C35B-4874-EC7B-BC99F9FC3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DCADBB-19AA-6D2D-5B6C-31B17AC59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47C158-1E6A-39B9-56BA-9FC3587D9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EAF89F-7796-FB9E-7430-5BC94936A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531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5097671-023C-548A-091A-E66EDBF62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3597A-1227-A241-936A-C99E6846F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28DD6-C8F4-EE71-16FA-96CBD57374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2F12DB-CAA1-489E-A278-B6CB75B4CB99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02C5FD-0093-4163-0B37-7399E10963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A1918E-C178-DC98-5914-F6C31909F4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F90270-A5CB-4436-98B1-179EA8A377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8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svg"/><Relationship Id="rId7" Type="http://schemas.openxmlformats.org/officeDocument/2006/relationships/hyperlink" Target="https://services.ai.azure.com/" TargetMode="Externa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hyperlink" Target="https://services.azure.com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hyperlink" Target="https://services.ai.azure.com/" TargetMode="Externa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ervices.azure.com/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svg"/><Relationship Id="rId10" Type="http://schemas.openxmlformats.org/officeDocument/2006/relationships/hyperlink" Target="https://services.ai.azure.com/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506AB04F-935B-FC83-C1A1-7C30E1AF9A57}"/>
              </a:ext>
            </a:extLst>
          </p:cNvPr>
          <p:cNvSpPr/>
          <p:nvPr/>
        </p:nvSpPr>
        <p:spPr>
          <a:xfrm>
            <a:off x="620211" y="417837"/>
            <a:ext cx="11212488" cy="34274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A676096-E4F5-AD14-53FF-30B80D076C30}"/>
              </a:ext>
            </a:extLst>
          </p:cNvPr>
          <p:cNvSpPr/>
          <p:nvPr/>
        </p:nvSpPr>
        <p:spPr>
          <a:xfrm>
            <a:off x="2222416" y="1555343"/>
            <a:ext cx="7109309" cy="1951815"/>
          </a:xfrm>
          <a:prstGeom prst="roundRect">
            <a:avLst>
              <a:gd name="adj" fmla="val 10513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D0C3122-B7FD-E498-CE53-7C201480C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49196" y="2252074"/>
            <a:ext cx="489169" cy="4891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FDFE26-ECE3-3911-3079-06C168E63F61}"/>
              </a:ext>
            </a:extLst>
          </p:cNvPr>
          <p:cNvSpPr txBox="1"/>
          <p:nvPr/>
        </p:nvSpPr>
        <p:spPr>
          <a:xfrm>
            <a:off x="3573071" y="2843043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踏み台サーバー</a:t>
            </a:r>
            <a:br>
              <a:rPr kumimoji="1" lang="en-US" altLang="ja-JP" sz="1400" dirty="0"/>
            </a:br>
            <a:r>
              <a:rPr kumimoji="1" lang="en-US" altLang="ja-JP" sz="1400" dirty="0"/>
              <a:t>(</a:t>
            </a:r>
            <a:r>
              <a:rPr kumimoji="1" lang="en-US" altLang="ja-JP" sz="1400" dirty="0" err="1"/>
              <a:t>Jumpbox</a:t>
            </a:r>
            <a:r>
              <a:rPr kumimoji="1" lang="en-US" altLang="ja-JP" sz="1400" dirty="0"/>
              <a:t> VM)</a:t>
            </a:r>
            <a:endParaRPr kumimoji="1" lang="ja-JP" altLang="en-US" sz="1400" dirty="0"/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FFFF71AE-6D43-2EB4-8465-CA083C6968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395" y="2206290"/>
            <a:ext cx="489169" cy="489169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45971DFE-978C-F964-0C0E-BBEBB0B205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1105" y="1567622"/>
            <a:ext cx="404272" cy="40427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FAD9B2C-46C1-14CE-5D26-9BAA5CD4B61C}"/>
              </a:ext>
            </a:extLst>
          </p:cNvPr>
          <p:cNvSpPr txBox="1"/>
          <p:nvPr/>
        </p:nvSpPr>
        <p:spPr>
          <a:xfrm>
            <a:off x="2773729" y="1607129"/>
            <a:ext cx="6591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VNET</a:t>
            </a:r>
            <a:endParaRPr kumimoji="1" lang="ja-JP" altLang="en-US" sz="1400" dirty="0"/>
          </a:p>
        </p:txBody>
      </p:sp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64C20909-1455-3EB0-BAFE-01DB5997B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16219" y="2252074"/>
            <a:ext cx="489169" cy="489169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56F3F16-1576-BDC1-1ED6-916D20EE3A6C}"/>
              </a:ext>
            </a:extLst>
          </p:cNvPr>
          <p:cNvSpPr txBox="1"/>
          <p:nvPr/>
        </p:nvSpPr>
        <p:spPr>
          <a:xfrm>
            <a:off x="7582385" y="2977434"/>
            <a:ext cx="1556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Endpoint</a:t>
            </a:r>
            <a:endParaRPr kumimoji="1" lang="ja-JP" altLang="en-US" sz="1400" dirty="0"/>
          </a:p>
        </p:txBody>
      </p:sp>
      <p:pic>
        <p:nvPicPr>
          <p:cNvPr id="20" name="図 19" descr="Aspire — あなたのスタックをシンプルに">
            <a:extLst>
              <a:ext uri="{FF2B5EF4-FFF2-40B4-BE49-F238E27FC236}">
                <a16:creationId xmlns:a16="http://schemas.microsoft.com/office/drawing/2014/main" id="{FB6B7A11-FD98-EE05-CF2C-AB08CD6B1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1086" y="2121082"/>
            <a:ext cx="751153" cy="751153"/>
          </a:xfrm>
          <a:prstGeom prst="rect">
            <a:avLst/>
          </a:prstGeom>
        </p:spPr>
      </p:pic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AA0AD2A-FA9C-71F5-4A18-085D24714173}"/>
              </a:ext>
            </a:extLst>
          </p:cNvPr>
          <p:cNvCxnSpPr/>
          <p:nvPr/>
        </p:nvCxnSpPr>
        <p:spPr>
          <a:xfrm>
            <a:off x="4738731" y="2531250"/>
            <a:ext cx="3227241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BC546240-2D32-2708-7769-7C7EB6835A20}"/>
              </a:ext>
            </a:extLst>
          </p:cNvPr>
          <p:cNvCxnSpPr/>
          <p:nvPr/>
        </p:nvCxnSpPr>
        <p:spPr>
          <a:xfrm>
            <a:off x="8797332" y="2531250"/>
            <a:ext cx="1821694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83E2BC4D-97F7-5BF0-1409-8E75B164BC2F}"/>
              </a:ext>
            </a:extLst>
          </p:cNvPr>
          <p:cNvCxnSpPr/>
          <p:nvPr/>
        </p:nvCxnSpPr>
        <p:spPr>
          <a:xfrm>
            <a:off x="1557827" y="2538312"/>
            <a:ext cx="2204249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91627B6-474B-0004-0907-8AE1D7FCD453}"/>
              </a:ext>
            </a:extLst>
          </p:cNvPr>
          <p:cNvSpPr txBox="1"/>
          <p:nvPr/>
        </p:nvSpPr>
        <p:spPr>
          <a:xfrm>
            <a:off x="814457" y="2826452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Bastion</a:t>
            </a:r>
            <a:endParaRPr kumimoji="1" lang="ja-JP" altLang="en-US" sz="1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B2710F3-697E-8B0E-A901-E360CFB70115}"/>
              </a:ext>
            </a:extLst>
          </p:cNvPr>
          <p:cNvSpPr txBox="1"/>
          <p:nvPr/>
        </p:nvSpPr>
        <p:spPr>
          <a:xfrm>
            <a:off x="2601311" y="2237328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RDP/SSH</a:t>
            </a:r>
            <a:endParaRPr kumimoji="1" lang="ja-JP" altLang="en-US" sz="1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CD0E8CF-3B3D-EC82-8964-EB63B7D9E14B}"/>
              </a:ext>
            </a:extLst>
          </p:cNvPr>
          <p:cNvSpPr txBox="1"/>
          <p:nvPr/>
        </p:nvSpPr>
        <p:spPr>
          <a:xfrm>
            <a:off x="5083406" y="1942439"/>
            <a:ext cx="26019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Foundry API</a:t>
            </a:r>
          </a:p>
          <a:p>
            <a:r>
              <a:rPr kumimoji="1" lang="en-US" altLang="ja-JP" sz="1400" dirty="0">
                <a:hlinkClick r:id="rId7"/>
              </a:rPr>
              <a:t>https://services.ai.azure.com</a:t>
            </a:r>
            <a:endParaRPr kumimoji="1" lang="ja-JP" altLang="en-US" sz="1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C5E6BC-76F3-2705-7479-A4F8BE9E0BE1}"/>
              </a:ext>
            </a:extLst>
          </p:cNvPr>
          <p:cNvSpPr txBox="1"/>
          <p:nvPr/>
        </p:nvSpPr>
        <p:spPr>
          <a:xfrm>
            <a:off x="9318691" y="223732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Link</a:t>
            </a:r>
            <a:endParaRPr kumimoji="1" lang="ja-JP" altLang="en-US" sz="1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44DBF81-E00D-6EB5-33FB-BE287E8E7E3F}"/>
              </a:ext>
            </a:extLst>
          </p:cNvPr>
          <p:cNvSpPr txBox="1"/>
          <p:nvPr/>
        </p:nvSpPr>
        <p:spPr>
          <a:xfrm>
            <a:off x="10051159" y="3026123"/>
            <a:ext cx="1701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Microsoft Foundry</a:t>
            </a:r>
            <a:endParaRPr kumimoji="1" lang="ja-JP" altLang="en-US" sz="1400" dirty="0"/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E6C4CF25-CF90-260F-CC6F-2970CF9248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534" y="489057"/>
            <a:ext cx="640814" cy="653892"/>
          </a:xfrm>
          <a:prstGeom prst="rect">
            <a:avLst/>
          </a:prstGeom>
        </p:spPr>
      </p:pic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613D92B8-F6B4-9AF9-0ED7-C4D499452726}"/>
              </a:ext>
            </a:extLst>
          </p:cNvPr>
          <p:cNvCxnSpPr>
            <a:cxnSpLocks/>
          </p:cNvCxnSpPr>
          <p:nvPr/>
        </p:nvCxnSpPr>
        <p:spPr>
          <a:xfrm flipV="1">
            <a:off x="4355004" y="1077902"/>
            <a:ext cx="1028448" cy="1032075"/>
          </a:xfrm>
          <a:prstGeom prst="straightConnector1">
            <a:avLst/>
          </a:prstGeom>
          <a:ln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27A06F30-507A-B3FF-8266-FCB93526A094}"/>
              </a:ext>
            </a:extLst>
          </p:cNvPr>
          <p:cNvSpPr txBox="1"/>
          <p:nvPr/>
        </p:nvSpPr>
        <p:spPr>
          <a:xfrm>
            <a:off x="6108109" y="531793"/>
            <a:ext cx="24080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Foundry Portal</a:t>
            </a:r>
          </a:p>
          <a:p>
            <a:r>
              <a:rPr kumimoji="1" lang="en-US" altLang="ja-JP" sz="1400" dirty="0">
                <a:hlinkClick r:id="rId9"/>
              </a:rPr>
              <a:t>https://services.azure.com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49470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DC2CC-DD74-BA59-C191-AE18326E2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91" y="661543"/>
            <a:ext cx="3364098" cy="210453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D563C1F-CAEE-E4FB-2D92-50A25EE49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877" y="661543"/>
            <a:ext cx="7570273" cy="325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06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5BF5074-BAA5-D850-DA43-E622CAD07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13" y="315481"/>
            <a:ext cx="10076033" cy="273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07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D49-A896-77C8-9218-FF927740E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2167AE1B-FDE6-2E4A-A370-1F666EE9B5D5}"/>
              </a:ext>
            </a:extLst>
          </p:cNvPr>
          <p:cNvSpPr/>
          <p:nvPr/>
        </p:nvSpPr>
        <p:spPr>
          <a:xfrm>
            <a:off x="1148176" y="1231583"/>
            <a:ext cx="9266519" cy="360232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F59E676-353A-18FA-7269-B0B3E880C107}"/>
              </a:ext>
            </a:extLst>
          </p:cNvPr>
          <p:cNvSpPr/>
          <p:nvPr/>
        </p:nvSpPr>
        <p:spPr>
          <a:xfrm>
            <a:off x="2109127" y="2995165"/>
            <a:ext cx="7109309" cy="1613070"/>
          </a:xfrm>
          <a:prstGeom prst="roundRect">
            <a:avLst>
              <a:gd name="adj" fmla="val 10513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FC5D29E3-76CC-0A64-8F59-4469DC870F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35907" y="3522524"/>
            <a:ext cx="489169" cy="4891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918A8D8-1F8F-CC8D-573C-8BC1AC119A12}"/>
              </a:ext>
            </a:extLst>
          </p:cNvPr>
          <p:cNvSpPr txBox="1"/>
          <p:nvPr/>
        </p:nvSpPr>
        <p:spPr>
          <a:xfrm>
            <a:off x="3967933" y="4081471"/>
            <a:ext cx="425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PC</a:t>
            </a:r>
            <a:endParaRPr kumimoji="1" lang="ja-JP" altLang="en-US" sz="1400" dirty="0"/>
          </a:p>
        </p:txBody>
      </p:sp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E18D3060-B7E5-A095-075E-ADD9A51C53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17816" y="3048464"/>
            <a:ext cx="404272" cy="40427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D8A19E4-3AC6-DC16-56A5-79E579874326}"/>
              </a:ext>
            </a:extLst>
          </p:cNvPr>
          <p:cNvSpPr txBox="1"/>
          <p:nvPr/>
        </p:nvSpPr>
        <p:spPr>
          <a:xfrm>
            <a:off x="2187532" y="3467159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企業ネットワーク</a:t>
            </a:r>
            <a:endParaRPr kumimoji="1" lang="ja-JP" altLang="en-US" sz="1400" dirty="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97C5B97-3FCC-2FDF-B445-60C43B0401F1}"/>
              </a:ext>
            </a:extLst>
          </p:cNvPr>
          <p:cNvCxnSpPr/>
          <p:nvPr/>
        </p:nvCxnSpPr>
        <p:spPr>
          <a:xfrm>
            <a:off x="4625442" y="3801700"/>
            <a:ext cx="3227241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C8792D7-7158-CE5C-692E-A333D54F8943}"/>
              </a:ext>
            </a:extLst>
          </p:cNvPr>
          <p:cNvSpPr txBox="1"/>
          <p:nvPr/>
        </p:nvSpPr>
        <p:spPr>
          <a:xfrm>
            <a:off x="5187347" y="3275293"/>
            <a:ext cx="13131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JavaScript</a:t>
            </a:r>
            <a:r>
              <a:rPr kumimoji="1" lang="ja-JP" altLang="en-US" sz="1400" dirty="0"/>
              <a:t> や </a:t>
            </a:r>
            <a:br>
              <a:rPr kumimoji="1" lang="en-US" altLang="ja-JP" sz="1400" dirty="0"/>
            </a:br>
            <a:r>
              <a:rPr kumimoji="1" lang="en-US" altLang="ja-JP" sz="1400" dirty="0" err="1"/>
              <a:t>iframe</a:t>
            </a:r>
            <a:r>
              <a:rPr lang="en-US" altLang="ja-JP" sz="1400" dirty="0"/>
              <a:t> </a:t>
            </a:r>
            <a:r>
              <a:rPr lang="ja-JP" altLang="en-US" sz="1400" dirty="0"/>
              <a:t>から</a:t>
            </a:r>
            <a:endParaRPr kumimoji="1" lang="en-US" altLang="ja-JP" sz="1400" dirty="0"/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21A1CDAE-6AA8-23AB-C4F6-81E537E43C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084" y="1409961"/>
            <a:ext cx="640814" cy="653892"/>
          </a:xfrm>
          <a:prstGeom prst="rect">
            <a:avLst/>
          </a:prstGeom>
        </p:spPr>
      </p:pic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D4177D0D-773E-1267-ED6B-BBBC74679576}"/>
              </a:ext>
            </a:extLst>
          </p:cNvPr>
          <p:cNvCxnSpPr>
            <a:cxnSpLocks/>
          </p:cNvCxnSpPr>
          <p:nvPr/>
        </p:nvCxnSpPr>
        <p:spPr>
          <a:xfrm flipV="1">
            <a:off x="4180541" y="2142880"/>
            <a:ext cx="1732" cy="1248811"/>
          </a:xfrm>
          <a:prstGeom prst="straightConnector1">
            <a:avLst/>
          </a:prstGeom>
          <a:ln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F4D9F2E2-FD3C-C65C-56BD-27D54A38367E}"/>
              </a:ext>
            </a:extLst>
          </p:cNvPr>
          <p:cNvSpPr txBox="1"/>
          <p:nvPr/>
        </p:nvSpPr>
        <p:spPr>
          <a:xfrm>
            <a:off x="4500898" y="1634983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怪しげなサイト</a:t>
            </a:r>
            <a:endParaRPr lang="en-US" altLang="ja-JP" sz="1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636B1B5-71D9-C53B-5285-E95A2A6B22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3547" y="3248225"/>
            <a:ext cx="660931" cy="96936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1442839-35D2-9410-6531-D28A8BDEFB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320" y="2369050"/>
            <a:ext cx="575425" cy="411952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72E2A-1874-BEC8-26C5-6E4D9034B0F7}"/>
              </a:ext>
            </a:extLst>
          </p:cNvPr>
          <p:cNvSpPr txBox="1"/>
          <p:nvPr/>
        </p:nvSpPr>
        <p:spPr>
          <a:xfrm>
            <a:off x="4538224" y="240406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インターネット</a:t>
            </a:r>
            <a:endParaRPr lang="en-US" altLang="ja-JP" sz="1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6E02442-98C1-4B2B-09B6-837E0E8A5CFB}"/>
              </a:ext>
            </a:extLst>
          </p:cNvPr>
          <p:cNvSpPr txBox="1"/>
          <p:nvPr/>
        </p:nvSpPr>
        <p:spPr>
          <a:xfrm>
            <a:off x="7119145" y="4300458"/>
            <a:ext cx="2012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企業の </a:t>
            </a:r>
            <a:r>
              <a:rPr kumimoji="1" lang="en-US" altLang="ja-JP" sz="1400" dirty="0"/>
              <a:t>API </a:t>
            </a:r>
            <a:r>
              <a:rPr kumimoji="1" lang="ja-JP" altLang="en-US" sz="1400" dirty="0"/>
              <a:t>やデバイス</a:t>
            </a:r>
            <a:endParaRPr kumimoji="1"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3080926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28B4C-7596-3A14-52E2-5A2DAD0A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1FC56B8F-644E-0B1C-6838-77047FE15FB7}"/>
              </a:ext>
            </a:extLst>
          </p:cNvPr>
          <p:cNvSpPr/>
          <p:nvPr/>
        </p:nvSpPr>
        <p:spPr>
          <a:xfrm>
            <a:off x="620211" y="854545"/>
            <a:ext cx="11212488" cy="28326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9713178-0895-CC96-9481-FCC78E3FF2F2}"/>
              </a:ext>
            </a:extLst>
          </p:cNvPr>
          <p:cNvSpPr/>
          <p:nvPr/>
        </p:nvSpPr>
        <p:spPr>
          <a:xfrm>
            <a:off x="2222416" y="1555343"/>
            <a:ext cx="7109309" cy="1951815"/>
          </a:xfrm>
          <a:prstGeom prst="roundRect">
            <a:avLst>
              <a:gd name="adj" fmla="val 10513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ABB5058E-7DB9-22C1-94F2-2FDBB43FA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49196" y="2252074"/>
            <a:ext cx="489169" cy="4891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255A78A-052D-8990-08E5-F8DE2F19A196}"/>
              </a:ext>
            </a:extLst>
          </p:cNvPr>
          <p:cNvSpPr txBox="1"/>
          <p:nvPr/>
        </p:nvSpPr>
        <p:spPr>
          <a:xfrm>
            <a:off x="3573071" y="2843043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踏み台サーバー</a:t>
            </a:r>
            <a:br>
              <a:rPr kumimoji="1" lang="en-US" altLang="ja-JP" sz="1400" dirty="0"/>
            </a:br>
            <a:r>
              <a:rPr kumimoji="1" lang="en-US" altLang="ja-JP" sz="1400" dirty="0"/>
              <a:t>(</a:t>
            </a:r>
            <a:r>
              <a:rPr kumimoji="1" lang="en-US" altLang="ja-JP" sz="1400" dirty="0" err="1"/>
              <a:t>Jumpbox</a:t>
            </a:r>
            <a:r>
              <a:rPr kumimoji="1" lang="en-US" altLang="ja-JP" sz="1400" dirty="0"/>
              <a:t> VM)</a:t>
            </a:r>
            <a:endParaRPr kumimoji="1" lang="ja-JP" altLang="en-US" sz="1400" dirty="0"/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0B26C757-7729-7939-03AA-36548CC89D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395" y="2206290"/>
            <a:ext cx="489169" cy="489169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C14FA8BE-CCEC-C2A5-AA50-0903B971F8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1105" y="1567622"/>
            <a:ext cx="404272" cy="40427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FCC9F07-30FC-3A43-DAD2-3027B9AB435F}"/>
              </a:ext>
            </a:extLst>
          </p:cNvPr>
          <p:cNvSpPr txBox="1"/>
          <p:nvPr/>
        </p:nvSpPr>
        <p:spPr>
          <a:xfrm>
            <a:off x="2773729" y="1607129"/>
            <a:ext cx="6591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VNET</a:t>
            </a:r>
            <a:endParaRPr kumimoji="1" lang="ja-JP" altLang="en-US" sz="1400" dirty="0"/>
          </a:p>
        </p:txBody>
      </p:sp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239BB336-EC02-88A0-2349-76D1E44754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16219" y="2252074"/>
            <a:ext cx="489169" cy="489169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091E0EC-F2CD-610F-E853-9AF19510048C}"/>
              </a:ext>
            </a:extLst>
          </p:cNvPr>
          <p:cNvSpPr txBox="1"/>
          <p:nvPr/>
        </p:nvSpPr>
        <p:spPr>
          <a:xfrm>
            <a:off x="7582385" y="2977434"/>
            <a:ext cx="1556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Endpoint</a:t>
            </a:r>
            <a:endParaRPr kumimoji="1" lang="ja-JP" altLang="en-US" sz="1400" dirty="0"/>
          </a:p>
        </p:txBody>
      </p:sp>
      <p:pic>
        <p:nvPicPr>
          <p:cNvPr id="20" name="図 19" descr="Aspire — あなたのスタックをシンプルに">
            <a:extLst>
              <a:ext uri="{FF2B5EF4-FFF2-40B4-BE49-F238E27FC236}">
                <a16:creationId xmlns:a16="http://schemas.microsoft.com/office/drawing/2014/main" id="{119C9D51-7E67-8E4E-25B8-7A4349494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1086" y="2121082"/>
            <a:ext cx="751153" cy="751153"/>
          </a:xfrm>
          <a:prstGeom prst="rect">
            <a:avLst/>
          </a:prstGeom>
        </p:spPr>
      </p:pic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6E3CC9F-8BE8-39F8-4ECB-A45C0650BBE1}"/>
              </a:ext>
            </a:extLst>
          </p:cNvPr>
          <p:cNvCxnSpPr/>
          <p:nvPr/>
        </p:nvCxnSpPr>
        <p:spPr>
          <a:xfrm>
            <a:off x="4738731" y="2531250"/>
            <a:ext cx="3227241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0AB229A-D30E-528B-F078-57B3451D1269}"/>
              </a:ext>
            </a:extLst>
          </p:cNvPr>
          <p:cNvCxnSpPr/>
          <p:nvPr/>
        </p:nvCxnSpPr>
        <p:spPr>
          <a:xfrm>
            <a:off x="8797332" y="2531250"/>
            <a:ext cx="1821694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F61FC529-03C2-5E4A-B041-6B1AF35B00B4}"/>
              </a:ext>
            </a:extLst>
          </p:cNvPr>
          <p:cNvCxnSpPr/>
          <p:nvPr/>
        </p:nvCxnSpPr>
        <p:spPr>
          <a:xfrm>
            <a:off x="1557827" y="2538312"/>
            <a:ext cx="2204249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E0C7259-CCBB-DCC1-D785-C036784228B2}"/>
              </a:ext>
            </a:extLst>
          </p:cNvPr>
          <p:cNvSpPr txBox="1"/>
          <p:nvPr/>
        </p:nvSpPr>
        <p:spPr>
          <a:xfrm>
            <a:off x="814457" y="2826452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Bastion</a:t>
            </a:r>
            <a:endParaRPr kumimoji="1" lang="ja-JP" altLang="en-US" sz="1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DD19428-9756-44C7-5353-4F24705C4273}"/>
              </a:ext>
            </a:extLst>
          </p:cNvPr>
          <p:cNvSpPr txBox="1"/>
          <p:nvPr/>
        </p:nvSpPr>
        <p:spPr>
          <a:xfrm>
            <a:off x="2601311" y="2237328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RDP/SSH</a:t>
            </a:r>
            <a:endParaRPr kumimoji="1" lang="ja-JP" altLang="en-US" sz="1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96CF32-940F-A2EF-C7A8-F514CF8D3F80}"/>
              </a:ext>
            </a:extLst>
          </p:cNvPr>
          <p:cNvSpPr txBox="1"/>
          <p:nvPr/>
        </p:nvSpPr>
        <p:spPr>
          <a:xfrm>
            <a:off x="5083406" y="1942439"/>
            <a:ext cx="26019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Foundry API</a:t>
            </a:r>
          </a:p>
          <a:p>
            <a:r>
              <a:rPr kumimoji="1" lang="en-US" altLang="ja-JP" sz="1400" dirty="0">
                <a:hlinkClick r:id="rId7"/>
              </a:rPr>
              <a:t>https://services.ai.azure.com</a:t>
            </a:r>
            <a:endParaRPr kumimoji="1" lang="ja-JP" altLang="en-US" sz="1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49BE6DF-B94F-48D9-5D48-092DE58F7A9E}"/>
              </a:ext>
            </a:extLst>
          </p:cNvPr>
          <p:cNvSpPr txBox="1"/>
          <p:nvPr/>
        </p:nvSpPr>
        <p:spPr>
          <a:xfrm>
            <a:off x="9318691" y="223732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Link</a:t>
            </a:r>
            <a:endParaRPr kumimoji="1" lang="ja-JP" altLang="en-US" sz="1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36DE43E-3984-FA0D-0149-11FFBF1BFF44}"/>
              </a:ext>
            </a:extLst>
          </p:cNvPr>
          <p:cNvSpPr txBox="1"/>
          <p:nvPr/>
        </p:nvSpPr>
        <p:spPr>
          <a:xfrm>
            <a:off x="10051159" y="3026123"/>
            <a:ext cx="1701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Microsoft Foundry</a:t>
            </a:r>
            <a:endParaRPr kumimoji="1" lang="ja-JP" altLang="en-US" sz="1400" dirty="0"/>
          </a:p>
        </p:txBody>
      </p:sp>
      <p:sp>
        <p:nvSpPr>
          <p:cNvPr id="2" name="吹き出し: 角を丸めた四角形 1">
            <a:extLst>
              <a:ext uri="{FF2B5EF4-FFF2-40B4-BE49-F238E27FC236}">
                <a16:creationId xmlns:a16="http://schemas.microsoft.com/office/drawing/2014/main" id="{9F4D3722-4DDC-BD8A-3466-0E01B424D604}"/>
              </a:ext>
            </a:extLst>
          </p:cNvPr>
          <p:cNvSpPr/>
          <p:nvPr/>
        </p:nvSpPr>
        <p:spPr>
          <a:xfrm>
            <a:off x="3793494" y="1009291"/>
            <a:ext cx="1493371" cy="890389"/>
          </a:xfrm>
          <a:prstGeom prst="wedgeRoundRectCallout">
            <a:avLst>
              <a:gd name="adj1" fmla="val -20022"/>
              <a:gd name="adj2" fmla="val 103026"/>
              <a:gd name="adj3" fmla="val 1666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367A0A5-AB14-5A88-7A56-A079E55709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2097" y="1163247"/>
            <a:ext cx="444348" cy="444348"/>
          </a:xfrm>
          <a:prstGeom prst="rect">
            <a:avLst/>
          </a:prstGeom>
        </p:spPr>
      </p:pic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A617360A-4154-1F44-BFFB-C7B6E433C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6335" y="1162673"/>
            <a:ext cx="444699" cy="44469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BE5CCB-CE57-A55E-6071-9587DB979B95}"/>
              </a:ext>
            </a:extLst>
          </p:cNvPr>
          <p:cNvSpPr txBox="1"/>
          <p:nvPr/>
        </p:nvSpPr>
        <p:spPr>
          <a:xfrm>
            <a:off x="4001892" y="1613282"/>
            <a:ext cx="10791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Client Tool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33193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B568-520A-5A46-5AB4-50C985B9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74E39517-E6B3-AADC-E8CF-4D4F508A1175}"/>
              </a:ext>
            </a:extLst>
          </p:cNvPr>
          <p:cNvSpPr/>
          <p:nvPr/>
        </p:nvSpPr>
        <p:spPr>
          <a:xfrm>
            <a:off x="677482" y="748406"/>
            <a:ext cx="11212488" cy="39459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62E6944-1EE6-C971-E2DD-41D07D0CE3C3}"/>
              </a:ext>
            </a:extLst>
          </p:cNvPr>
          <p:cNvSpPr/>
          <p:nvPr/>
        </p:nvSpPr>
        <p:spPr>
          <a:xfrm>
            <a:off x="2137637" y="2506077"/>
            <a:ext cx="7109309" cy="1951815"/>
          </a:xfrm>
          <a:prstGeom prst="roundRect">
            <a:avLst>
              <a:gd name="adj" fmla="val 10513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FC8661B1-C172-9B97-5897-72F2999B1E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4417" y="3202808"/>
            <a:ext cx="489169" cy="4891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6140F1D-A4A1-EE09-3A50-F04F733F0B37}"/>
              </a:ext>
            </a:extLst>
          </p:cNvPr>
          <p:cNvSpPr txBox="1"/>
          <p:nvPr/>
        </p:nvSpPr>
        <p:spPr>
          <a:xfrm>
            <a:off x="3488292" y="379377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踏み台サーバー</a:t>
            </a:r>
            <a:br>
              <a:rPr kumimoji="1" lang="en-US" altLang="ja-JP" sz="1400" dirty="0"/>
            </a:br>
            <a:r>
              <a:rPr kumimoji="1" lang="en-US" altLang="ja-JP" sz="1400" dirty="0"/>
              <a:t>(</a:t>
            </a:r>
            <a:r>
              <a:rPr kumimoji="1" lang="en-US" altLang="ja-JP" sz="1400" dirty="0" err="1"/>
              <a:t>Jumpbox</a:t>
            </a:r>
            <a:r>
              <a:rPr kumimoji="1" lang="en-US" altLang="ja-JP" sz="1400" dirty="0"/>
              <a:t> VM)</a:t>
            </a:r>
            <a:endParaRPr kumimoji="1" lang="ja-JP" altLang="en-US" sz="1400" dirty="0"/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6B972B40-2C8F-215B-99BD-A9C964F710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1616" y="3157024"/>
            <a:ext cx="489169" cy="489169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4FDFA9A9-19AA-006A-A47A-19FC51E5D3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46326" y="2518356"/>
            <a:ext cx="404272" cy="40427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C04AFB2-1E6C-E65B-47C1-F0B1888DED40}"/>
              </a:ext>
            </a:extLst>
          </p:cNvPr>
          <p:cNvSpPr txBox="1"/>
          <p:nvPr/>
        </p:nvSpPr>
        <p:spPr>
          <a:xfrm>
            <a:off x="2688950" y="2557863"/>
            <a:ext cx="6591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VNET</a:t>
            </a:r>
            <a:endParaRPr kumimoji="1" lang="ja-JP" altLang="en-US" sz="1400" dirty="0"/>
          </a:p>
        </p:txBody>
      </p:sp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946A7ADF-66F1-12A4-074F-38B3AF3734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1440" y="3202808"/>
            <a:ext cx="489169" cy="489169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B3CF8BE-74BF-D755-729C-2C500EE43BC0}"/>
              </a:ext>
            </a:extLst>
          </p:cNvPr>
          <p:cNvSpPr txBox="1"/>
          <p:nvPr/>
        </p:nvSpPr>
        <p:spPr>
          <a:xfrm>
            <a:off x="7497606" y="3928168"/>
            <a:ext cx="1556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Endpoint</a:t>
            </a:r>
            <a:endParaRPr kumimoji="1" lang="ja-JP" altLang="en-US" sz="1400" dirty="0"/>
          </a:p>
        </p:txBody>
      </p:sp>
      <p:pic>
        <p:nvPicPr>
          <p:cNvPr id="20" name="図 19" descr="Aspire — あなたのスタックをシンプルに">
            <a:extLst>
              <a:ext uri="{FF2B5EF4-FFF2-40B4-BE49-F238E27FC236}">
                <a16:creationId xmlns:a16="http://schemas.microsoft.com/office/drawing/2014/main" id="{6B3470CF-7944-F1C9-8375-60E97C7F74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6307" y="3071816"/>
            <a:ext cx="751153" cy="751153"/>
          </a:xfrm>
          <a:prstGeom prst="rect">
            <a:avLst/>
          </a:prstGeom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59F92DF6-1AF1-8C81-B61D-39149FA54ED6}"/>
              </a:ext>
            </a:extLst>
          </p:cNvPr>
          <p:cNvCxnSpPr/>
          <p:nvPr/>
        </p:nvCxnSpPr>
        <p:spPr>
          <a:xfrm>
            <a:off x="8712553" y="3481984"/>
            <a:ext cx="1821694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BB4C8A87-B026-CB5B-561D-A33E9A5B9A95}"/>
              </a:ext>
            </a:extLst>
          </p:cNvPr>
          <p:cNvCxnSpPr/>
          <p:nvPr/>
        </p:nvCxnSpPr>
        <p:spPr>
          <a:xfrm>
            <a:off x="1473048" y="3489046"/>
            <a:ext cx="2204249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7581E5D-1298-EC85-9060-305E302E56F0}"/>
              </a:ext>
            </a:extLst>
          </p:cNvPr>
          <p:cNvSpPr txBox="1"/>
          <p:nvPr/>
        </p:nvSpPr>
        <p:spPr>
          <a:xfrm>
            <a:off x="729678" y="3777186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Bastion</a:t>
            </a:r>
            <a:endParaRPr kumimoji="1" lang="ja-JP" altLang="en-US" sz="1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4D18711-EBD4-B14D-F333-AE6B83836CA4}"/>
              </a:ext>
            </a:extLst>
          </p:cNvPr>
          <p:cNvSpPr txBox="1"/>
          <p:nvPr/>
        </p:nvSpPr>
        <p:spPr>
          <a:xfrm>
            <a:off x="2516532" y="3188062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RDP/SSH</a:t>
            </a:r>
            <a:endParaRPr kumimoji="1" lang="ja-JP" altLang="en-US" sz="1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66B16FF-B159-8E66-30B8-565DA0E79903}"/>
              </a:ext>
            </a:extLst>
          </p:cNvPr>
          <p:cNvSpPr txBox="1"/>
          <p:nvPr/>
        </p:nvSpPr>
        <p:spPr>
          <a:xfrm>
            <a:off x="9233912" y="3188061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Private Link</a:t>
            </a:r>
            <a:endParaRPr kumimoji="1" lang="ja-JP" altLang="en-US" sz="1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F713869-36D8-0C0F-50E6-524CF4AC615C}"/>
              </a:ext>
            </a:extLst>
          </p:cNvPr>
          <p:cNvSpPr txBox="1"/>
          <p:nvPr/>
        </p:nvSpPr>
        <p:spPr>
          <a:xfrm>
            <a:off x="9966380" y="3976857"/>
            <a:ext cx="1701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Microsoft Foundry</a:t>
            </a:r>
            <a:endParaRPr kumimoji="1" lang="ja-JP" altLang="en-US" sz="1400" dirty="0"/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20109552-377D-AA1C-736E-BE4E094EE6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595" y="882673"/>
            <a:ext cx="640814" cy="653892"/>
          </a:xfrm>
          <a:prstGeom prst="rect">
            <a:avLst/>
          </a:prstGeom>
        </p:spPr>
      </p:pic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2BA3969-2315-7435-341B-5C1C308D8E28}"/>
              </a:ext>
            </a:extLst>
          </p:cNvPr>
          <p:cNvCxnSpPr>
            <a:cxnSpLocks/>
          </p:cNvCxnSpPr>
          <p:nvPr/>
        </p:nvCxnSpPr>
        <p:spPr>
          <a:xfrm flipV="1">
            <a:off x="4432444" y="1327736"/>
            <a:ext cx="1131293" cy="437702"/>
          </a:xfrm>
          <a:prstGeom prst="straightConnector1">
            <a:avLst/>
          </a:prstGeom>
          <a:ln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C032E53C-3DDB-FB4A-A87E-62D1433BC678}"/>
              </a:ext>
            </a:extLst>
          </p:cNvPr>
          <p:cNvSpPr txBox="1"/>
          <p:nvPr/>
        </p:nvSpPr>
        <p:spPr>
          <a:xfrm>
            <a:off x="6186835" y="964049"/>
            <a:ext cx="24080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Foundry Portal</a:t>
            </a:r>
          </a:p>
          <a:p>
            <a:r>
              <a:rPr kumimoji="1" lang="en-US" altLang="ja-JP" sz="1400" dirty="0">
                <a:hlinkClick r:id="rId8"/>
              </a:rPr>
              <a:t>https://services.azure.com</a:t>
            </a:r>
            <a:endParaRPr kumimoji="1" lang="ja-JP" altLang="en-US" sz="1400" dirty="0"/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37FC13DF-ABED-0989-465A-DE9422D20864}"/>
              </a:ext>
            </a:extLst>
          </p:cNvPr>
          <p:cNvCxnSpPr>
            <a:cxnSpLocks/>
          </p:cNvCxnSpPr>
          <p:nvPr/>
        </p:nvCxnSpPr>
        <p:spPr>
          <a:xfrm flipV="1">
            <a:off x="4209001" y="1982145"/>
            <a:ext cx="0" cy="113773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CBC00CB8-74DF-D93A-7A69-61CD38EAF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6865" y="1601475"/>
            <a:ext cx="404272" cy="40427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52604DD-9EC9-7DD2-F3B4-C7EFCABD9C9B}"/>
              </a:ext>
            </a:extLst>
          </p:cNvPr>
          <p:cNvSpPr txBox="1"/>
          <p:nvPr/>
        </p:nvSpPr>
        <p:spPr>
          <a:xfrm>
            <a:off x="2516670" y="1624229"/>
            <a:ext cx="1540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Public IP</a:t>
            </a:r>
            <a:br>
              <a:rPr kumimoji="1" lang="en-US" altLang="ja-JP" sz="1400" dirty="0"/>
            </a:br>
            <a:r>
              <a:rPr kumimoji="1" lang="en-US" altLang="ja-JP" sz="1400" dirty="0"/>
              <a:t>or NAT Gateway</a:t>
            </a:r>
            <a:endParaRPr kumimoji="1" lang="ja-JP" altLang="en-US" sz="1400" dirty="0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D3FBADF7-FBCD-D0B4-420D-69464E455F48}"/>
              </a:ext>
            </a:extLst>
          </p:cNvPr>
          <p:cNvCxnSpPr>
            <a:cxnSpLocks/>
            <a:stCxn id="8" idx="3"/>
            <a:endCxn id="20" idx="0"/>
          </p:cNvCxnSpPr>
          <p:nvPr/>
        </p:nvCxnSpPr>
        <p:spPr>
          <a:xfrm>
            <a:off x="4411137" y="1803611"/>
            <a:ext cx="6510747" cy="1268205"/>
          </a:xfrm>
          <a:prstGeom prst="bentConnector2">
            <a:avLst/>
          </a:prstGeom>
          <a:ln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E3BD557-38B3-8B6E-7945-6FFC876E4E5D}"/>
              </a:ext>
            </a:extLst>
          </p:cNvPr>
          <p:cNvSpPr txBox="1"/>
          <p:nvPr/>
        </p:nvSpPr>
        <p:spPr>
          <a:xfrm>
            <a:off x="5767405" y="1845897"/>
            <a:ext cx="26019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Foundry API</a:t>
            </a:r>
          </a:p>
          <a:p>
            <a:r>
              <a:rPr kumimoji="1" lang="en-US" altLang="ja-JP" sz="1400" dirty="0">
                <a:hlinkClick r:id="rId10"/>
              </a:rPr>
              <a:t>https://services.ai.azure.com</a:t>
            </a:r>
            <a:endParaRPr kumimoji="1" lang="ja-JP" altLang="en-US" sz="14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F7307B2-5806-BB41-41A3-3A2B2BF2232F}"/>
              </a:ext>
            </a:extLst>
          </p:cNvPr>
          <p:cNvSpPr txBox="1"/>
          <p:nvPr/>
        </p:nvSpPr>
        <p:spPr>
          <a:xfrm>
            <a:off x="10037452" y="2299150"/>
            <a:ext cx="1689886" cy="47565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ja-JP" altLang="en-US" sz="1400" dirty="0"/>
              <a:t>踏み台や </a:t>
            </a:r>
            <a:r>
              <a:rPr lang="en-US" altLang="ja-JP" sz="1400" dirty="0"/>
              <a:t>NAT</a:t>
            </a:r>
            <a:r>
              <a:rPr lang="ja-JP" altLang="en-US" sz="1400" dirty="0"/>
              <a:t> の</a:t>
            </a:r>
            <a:endParaRPr lang="en-US" altLang="ja-JP" sz="1400" dirty="0"/>
          </a:p>
          <a:p>
            <a:pPr algn="ctr"/>
            <a:r>
              <a:rPr lang="en-US" altLang="ja-JP" sz="1400" dirty="0"/>
              <a:t>Public IP</a:t>
            </a:r>
            <a:r>
              <a:rPr lang="ja-JP" altLang="en-US" sz="1400" dirty="0"/>
              <a:t> のみ許可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76524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797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178</Words>
  <Application>Microsoft Office PowerPoint</Application>
  <PresentationFormat>ワイド画面</PresentationFormat>
  <Paragraphs>41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Ayumu Inaba</dc:creator>
  <cp:lastModifiedBy>Ayumu Inaba</cp:lastModifiedBy>
  <cp:revision>7</cp:revision>
  <dcterms:created xsi:type="dcterms:W3CDTF">2026-05-14T05:28:58Z</dcterms:created>
  <dcterms:modified xsi:type="dcterms:W3CDTF">2026-05-14T15:07:55Z</dcterms:modified>
</cp:coreProperties>
</file>