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1B7D18-6AEB-355F-3348-B211A03E1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C5D56B-2F2F-BC9F-1B36-2E9D071BE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8E6C66-3A01-6803-C981-3A177785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600AE5-DA34-8A51-C211-F1F849D60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071416-097F-E8A8-C445-6506B9AF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53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16E83-0B66-232F-EE42-F43E1A5C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84BAE5-FBCB-0FF3-AC65-AEA2C20D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9FE453-A42E-A715-2BF7-2B16C05C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396486-FF72-1FCD-6F57-BE7708EB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0D811D-FD8E-572E-4713-AAE3C789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49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F0A61D-E10A-F4DF-A1A5-7641C055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83002A-398D-55D1-166E-4C8D0313C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EC0761-C0B0-9D69-CDD9-0F1346CC2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6AF48C-3C87-BD2B-7E43-C8A1C8A7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01378A-676F-EBCA-07CC-6E5ABE68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1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2DAB9-F2B3-01BF-C920-5A478DF9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F408CA-D725-7EB6-25AF-17A63C9E5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5C5F4B-0DFD-9A67-F196-0EA538E94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07A71E-C1B9-67D7-374F-08031616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F69499-176D-7E3A-20CD-CF583C43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DD6886-52DE-96D8-0F56-AF803233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48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D7CEDF-392E-D732-0CA2-47C04D63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281118-B87C-836C-B31C-6DAA3C412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77CE24-A3A0-D919-B16F-5D6D09C2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7E30A9-FCDA-0309-871B-F5F01E702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C879B5-5311-813D-A57E-509C66AB2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4A5D12-97B8-54AB-7235-54ACD2E9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7A6ADF-AC1F-4151-6FD8-B2F25A6E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CD83258-8A8C-F1D3-BCC0-EFD58FBC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21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80952A-5158-BD0C-2D37-21518DE6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7D1C7C0-E0B7-012C-2015-71998A5F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946E0C-E93D-B93B-1233-55EE8EB1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1D4F33-7B34-8FBD-694F-E2D0170B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00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24A66E4-4274-874B-5985-280E221C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A4679C-8512-086A-D226-DBF0D86A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AC8317-2084-3D94-595B-FA3016D0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58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AADE5-B0F7-8C98-F9A4-93E5032F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7936A2-34E7-A886-E29A-BE45EE0EC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692E5E-CAD1-9730-8CE5-AF8857BBA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7D0E32-CFA8-A60C-0FA1-B3B446CA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B34153-F29E-0787-3FFA-0423C02F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103427-610E-8D48-B5A0-A2C15586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12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731129-3CF1-2233-9110-85E27E00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A75EDE-7A8F-A0A3-1C8C-3FDEE4ECC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B63EE8-4CB5-FC2C-0777-93B0CA1F3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749B39-1052-FE11-95E4-37B9C64FE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547072-0BC0-1757-D00F-348E7FA5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E3FF9A-92D5-CF2E-5E7A-7F52A5D9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5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C4EC94-F59A-0566-8309-BA3828FF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6888E8-30EC-15A8-F273-F06DA08F5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A1CA4F-5D5E-D6A7-F611-9E39CB7D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3AD656-BF1F-FBE6-66CB-DE324943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2F4C71-0634-2A1E-4B7B-167CD4DF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87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5EC459-DE67-449A-58B4-E00E33C58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8B1A86-BC15-B522-3029-BF21B6F1B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AF15DF-825B-0EAB-F4A3-3104F702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7B364B-48C1-6926-B553-A989EEA5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CA003D-E424-A20F-8136-A4C512CF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95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DC571D4-3864-75F7-C9F4-59A65981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96D68B-98A6-DEEC-1DBB-BFC8081D5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46D7E6-78FC-C3B9-AF8D-C4116C99F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58087-6881-41F6-8B1E-633044765FC9}" type="datetimeFigureOut">
              <a:rPr kumimoji="1" lang="ja-JP" altLang="en-US" smtClean="0"/>
              <a:t>2026/4/12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64096E-0EE1-2458-F12B-403D70C0D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24AD81-1EDA-CE58-BA44-7478C44DA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06AD0-F3BC-4F44-9C04-C83BF57BF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79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12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3B3CC02-8EB0-738F-BB7D-2422D5BBAA6D}"/>
              </a:ext>
            </a:extLst>
          </p:cNvPr>
          <p:cNvSpPr/>
          <p:nvPr/>
        </p:nvSpPr>
        <p:spPr>
          <a:xfrm>
            <a:off x="749067" y="231187"/>
            <a:ext cx="7125080" cy="23777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3F62140-3792-E8D7-B9C0-FCA688C5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59" y="2115744"/>
            <a:ext cx="765082" cy="731977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5D3C0DC-DCB1-6D6B-555B-7B36C639F0D8}"/>
              </a:ext>
            </a:extLst>
          </p:cNvPr>
          <p:cNvSpPr/>
          <p:nvPr/>
        </p:nvSpPr>
        <p:spPr>
          <a:xfrm>
            <a:off x="1752265" y="1872878"/>
            <a:ext cx="1338294" cy="4265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.NET 10</a:t>
            </a:r>
            <a:endParaRPr kumimoji="1" lang="ja-JP" altLang="en-US" sz="1400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C66DCE0-BD21-4D53-77D2-9442ADC3FCF2}"/>
              </a:ext>
            </a:extLst>
          </p:cNvPr>
          <p:cNvSpPr/>
          <p:nvPr/>
        </p:nvSpPr>
        <p:spPr>
          <a:xfrm>
            <a:off x="1752265" y="1376864"/>
            <a:ext cx="1338294" cy="4265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MAF</a:t>
            </a:r>
            <a:endParaRPr kumimoji="1" lang="ja-JP" altLang="en-US" sz="14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5AD0E1B-673D-AD89-BE77-21A714BBBF60}"/>
              </a:ext>
            </a:extLst>
          </p:cNvPr>
          <p:cNvSpPr/>
          <p:nvPr/>
        </p:nvSpPr>
        <p:spPr>
          <a:xfrm>
            <a:off x="1752265" y="876482"/>
            <a:ext cx="1338294" cy="4265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Agent</a:t>
            </a:r>
            <a:endParaRPr kumimoji="1" lang="ja-JP" altLang="en-US" sz="14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4341573-138D-4CF1-CB51-57A695FBC2FE}"/>
              </a:ext>
            </a:extLst>
          </p:cNvPr>
          <p:cNvSpPr/>
          <p:nvPr/>
        </p:nvSpPr>
        <p:spPr>
          <a:xfrm>
            <a:off x="5544772" y="1612755"/>
            <a:ext cx="1619335" cy="6866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Foundry Local</a:t>
            </a:r>
            <a:endParaRPr kumimoji="1" lang="ja-JP" altLang="en-US" sz="14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0F4C835-9806-2B5B-6053-CA72B9366523}"/>
              </a:ext>
            </a:extLst>
          </p:cNvPr>
          <p:cNvSpPr/>
          <p:nvPr/>
        </p:nvSpPr>
        <p:spPr>
          <a:xfrm>
            <a:off x="5544772" y="875409"/>
            <a:ext cx="1619335" cy="6866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Model</a:t>
            </a:r>
            <a:endParaRPr kumimoji="1" lang="ja-JP" altLang="en-US" sz="14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4265EF4-6659-B74A-5C71-72C6C5EC824C}"/>
              </a:ext>
            </a:extLst>
          </p:cNvPr>
          <p:cNvCxnSpPr>
            <a:cxnSpLocks/>
          </p:cNvCxnSpPr>
          <p:nvPr/>
        </p:nvCxnSpPr>
        <p:spPr>
          <a:xfrm>
            <a:off x="3572091" y="1564308"/>
            <a:ext cx="1466927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057A116-B8FC-C029-C410-E10FF475A80B}"/>
              </a:ext>
            </a:extLst>
          </p:cNvPr>
          <p:cNvSpPr txBox="1"/>
          <p:nvPr/>
        </p:nvSpPr>
        <p:spPr>
          <a:xfrm>
            <a:off x="3598245" y="1089769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REST API</a:t>
            </a:r>
            <a:br>
              <a:rPr kumimoji="1" lang="en-US" altLang="ja-JP" sz="1200" dirty="0"/>
            </a:br>
            <a:r>
              <a:rPr kumimoji="1" lang="en-US" altLang="ja-JP" sz="1200" dirty="0"/>
              <a:t>Chat Completion</a:t>
            </a:r>
            <a:endParaRPr kumimoji="1" lang="ja-JP" altLang="en-US" sz="12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5FF86D-93D4-DF0B-2612-7BC3C84FE347}"/>
              </a:ext>
            </a:extLst>
          </p:cNvPr>
          <p:cNvSpPr/>
          <p:nvPr/>
        </p:nvSpPr>
        <p:spPr>
          <a:xfrm>
            <a:off x="1552793" y="750781"/>
            <a:ext cx="1753507" cy="168354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DBF7B91-3C65-9B21-A436-24D8AADBE9DA}"/>
              </a:ext>
            </a:extLst>
          </p:cNvPr>
          <p:cNvSpPr/>
          <p:nvPr/>
        </p:nvSpPr>
        <p:spPr>
          <a:xfrm>
            <a:off x="1320874" y="535091"/>
            <a:ext cx="226324" cy="21569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B4402C-CD41-C894-C5B1-B5762E33CE8A}"/>
              </a:ext>
            </a:extLst>
          </p:cNvPr>
          <p:cNvSpPr/>
          <p:nvPr/>
        </p:nvSpPr>
        <p:spPr>
          <a:xfrm>
            <a:off x="5378480" y="750781"/>
            <a:ext cx="1928858" cy="168354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6DD44E6-059E-BC22-9AD1-7E4938B2AF4F}"/>
              </a:ext>
            </a:extLst>
          </p:cNvPr>
          <p:cNvSpPr/>
          <p:nvPr/>
        </p:nvSpPr>
        <p:spPr>
          <a:xfrm>
            <a:off x="5155513" y="535091"/>
            <a:ext cx="226324" cy="21569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3DB425-1F28-7551-4769-98E2894207FA}"/>
              </a:ext>
            </a:extLst>
          </p:cNvPr>
          <p:cNvSpPr txBox="1"/>
          <p:nvPr/>
        </p:nvSpPr>
        <p:spPr>
          <a:xfrm>
            <a:off x="1587901" y="455256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Agent App</a:t>
            </a:r>
            <a:endParaRPr kumimoji="1"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89FD17-05D9-E55C-8A8B-4AB55DA0AADD}"/>
              </a:ext>
            </a:extLst>
          </p:cNvPr>
          <p:cNvSpPr txBox="1"/>
          <p:nvPr/>
        </p:nvSpPr>
        <p:spPr>
          <a:xfrm>
            <a:off x="5378480" y="307024"/>
            <a:ext cx="2281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Foundry Local</a:t>
            </a:r>
            <a:br>
              <a:rPr lang="en-US" altLang="ja-JP" sz="1200" dirty="0"/>
            </a:br>
            <a:r>
              <a:rPr lang="en-US" altLang="ja-JP" sz="1200" dirty="0"/>
              <a:t>(Inference.Service.Agent.exe)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68586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66D319-2957-AD00-8805-917C5392D449}"/>
              </a:ext>
            </a:extLst>
          </p:cNvPr>
          <p:cNvSpPr/>
          <p:nvPr/>
        </p:nvSpPr>
        <p:spPr>
          <a:xfrm>
            <a:off x="2524258" y="2264805"/>
            <a:ext cx="8402479" cy="432495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思考の吹き出し: 雲形 47">
            <a:extLst>
              <a:ext uri="{FF2B5EF4-FFF2-40B4-BE49-F238E27FC236}">
                <a16:creationId xmlns:a16="http://schemas.microsoft.com/office/drawing/2014/main" id="{4BE35E3F-2559-54B4-F10C-826EE625D1AD}"/>
              </a:ext>
            </a:extLst>
          </p:cNvPr>
          <p:cNvSpPr/>
          <p:nvPr/>
        </p:nvSpPr>
        <p:spPr>
          <a:xfrm>
            <a:off x="7408566" y="2359911"/>
            <a:ext cx="2346577" cy="1206825"/>
          </a:xfrm>
          <a:prstGeom prst="cloudCallout">
            <a:avLst>
              <a:gd name="adj1" fmla="val -47889"/>
              <a:gd name="adj2" fmla="val 1462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D1ABAD-FA4F-C330-8578-A30C049316ED}"/>
              </a:ext>
            </a:extLst>
          </p:cNvPr>
          <p:cNvSpPr/>
          <p:nvPr/>
        </p:nvSpPr>
        <p:spPr>
          <a:xfrm>
            <a:off x="3196872" y="3813095"/>
            <a:ext cx="7125080" cy="23777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CC6451-BDC1-8572-7395-F3699D137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264" y="5697652"/>
            <a:ext cx="765082" cy="731977"/>
          </a:xfrm>
          <a:prstGeom prst="rect">
            <a:avLst/>
          </a:prstGeom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869AE77A-240A-8016-BAD5-45458668B115}"/>
              </a:ext>
            </a:extLst>
          </p:cNvPr>
          <p:cNvSpPr/>
          <p:nvPr/>
        </p:nvSpPr>
        <p:spPr>
          <a:xfrm>
            <a:off x="4200070" y="5454786"/>
            <a:ext cx="1338294" cy="4265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.NET 10</a:t>
            </a:r>
            <a:endParaRPr kumimoji="1" lang="ja-JP" altLang="en-US" sz="1400" dirty="0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C8AC75C-9588-D605-BDD4-55E3EF44A070}"/>
              </a:ext>
            </a:extLst>
          </p:cNvPr>
          <p:cNvSpPr/>
          <p:nvPr/>
        </p:nvSpPr>
        <p:spPr>
          <a:xfrm>
            <a:off x="4200070" y="4958772"/>
            <a:ext cx="1338294" cy="4265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MAF</a:t>
            </a:r>
            <a:endParaRPr kumimoji="1" lang="ja-JP" altLang="en-US" sz="1400" dirty="0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5AE1CC8A-0B87-D356-22FD-F48654C583C6}"/>
              </a:ext>
            </a:extLst>
          </p:cNvPr>
          <p:cNvSpPr/>
          <p:nvPr/>
        </p:nvSpPr>
        <p:spPr>
          <a:xfrm>
            <a:off x="4200070" y="4458390"/>
            <a:ext cx="1338294" cy="4265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Agent</a:t>
            </a:r>
            <a:endParaRPr kumimoji="1" lang="ja-JP" altLang="en-US" sz="1400" dirty="0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22E5969-4B84-7DE4-D85C-F6183D45ECEA}"/>
              </a:ext>
            </a:extLst>
          </p:cNvPr>
          <p:cNvSpPr/>
          <p:nvPr/>
        </p:nvSpPr>
        <p:spPr>
          <a:xfrm>
            <a:off x="7992577" y="5194663"/>
            <a:ext cx="1619335" cy="6866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Foundry Local</a:t>
            </a:r>
            <a:endParaRPr kumimoji="1" lang="ja-JP" altLang="en-US" sz="1400" dirty="0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3E8D88F7-C927-53FF-4500-B00568A2A034}"/>
              </a:ext>
            </a:extLst>
          </p:cNvPr>
          <p:cNvSpPr/>
          <p:nvPr/>
        </p:nvSpPr>
        <p:spPr>
          <a:xfrm>
            <a:off x="7992577" y="4457317"/>
            <a:ext cx="1619335" cy="68669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Model</a:t>
            </a:r>
            <a:endParaRPr kumimoji="1" lang="ja-JP" altLang="en-US" sz="1400" dirty="0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42916C7-0859-780A-82ED-34228A8C0C9C}"/>
              </a:ext>
            </a:extLst>
          </p:cNvPr>
          <p:cNvCxnSpPr>
            <a:cxnSpLocks/>
          </p:cNvCxnSpPr>
          <p:nvPr/>
        </p:nvCxnSpPr>
        <p:spPr>
          <a:xfrm>
            <a:off x="6019896" y="5146216"/>
            <a:ext cx="1466927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1498859-3886-5471-FB02-07FD42843F2B}"/>
              </a:ext>
            </a:extLst>
          </p:cNvPr>
          <p:cNvSpPr txBox="1"/>
          <p:nvPr/>
        </p:nvSpPr>
        <p:spPr>
          <a:xfrm>
            <a:off x="6046050" y="4671677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REST API</a:t>
            </a:r>
            <a:br>
              <a:rPr kumimoji="1" lang="en-US" altLang="ja-JP" sz="1200" dirty="0"/>
            </a:br>
            <a:r>
              <a:rPr kumimoji="1" lang="en-US" altLang="ja-JP" sz="1200" dirty="0"/>
              <a:t>Chat Completion</a:t>
            </a:r>
            <a:endParaRPr kumimoji="1" lang="ja-JP" altLang="en-US" sz="1200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0B34F8F-CF46-06B0-2BEC-C6F6C3360DF6}"/>
              </a:ext>
            </a:extLst>
          </p:cNvPr>
          <p:cNvSpPr/>
          <p:nvPr/>
        </p:nvSpPr>
        <p:spPr>
          <a:xfrm>
            <a:off x="4000598" y="4332689"/>
            <a:ext cx="1753507" cy="168354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554B1B7-9618-87C2-C206-9546924BA50E}"/>
              </a:ext>
            </a:extLst>
          </p:cNvPr>
          <p:cNvSpPr/>
          <p:nvPr/>
        </p:nvSpPr>
        <p:spPr>
          <a:xfrm>
            <a:off x="3768679" y="4116999"/>
            <a:ext cx="226324" cy="21569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4C53A46-EE84-D066-A8FD-B6EFDAE60ACB}"/>
              </a:ext>
            </a:extLst>
          </p:cNvPr>
          <p:cNvSpPr/>
          <p:nvPr/>
        </p:nvSpPr>
        <p:spPr>
          <a:xfrm>
            <a:off x="7826285" y="4332689"/>
            <a:ext cx="1928858" cy="168354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8AFA8CE-5C17-78D9-1785-84C6CB4C9AD3}"/>
              </a:ext>
            </a:extLst>
          </p:cNvPr>
          <p:cNvSpPr/>
          <p:nvPr/>
        </p:nvSpPr>
        <p:spPr>
          <a:xfrm>
            <a:off x="7603318" y="4116999"/>
            <a:ext cx="226324" cy="21569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CF6E340-6E0D-CDAE-FC23-1828E489E454}"/>
              </a:ext>
            </a:extLst>
          </p:cNvPr>
          <p:cNvSpPr txBox="1"/>
          <p:nvPr/>
        </p:nvSpPr>
        <p:spPr>
          <a:xfrm>
            <a:off x="4035706" y="4037164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Agent App</a:t>
            </a:r>
            <a:endParaRPr kumimoji="1" lang="ja-JP" altLang="en-US" sz="12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CFAC304-C272-693D-4812-FE667FF79647}"/>
              </a:ext>
            </a:extLst>
          </p:cNvPr>
          <p:cNvSpPr txBox="1"/>
          <p:nvPr/>
        </p:nvSpPr>
        <p:spPr>
          <a:xfrm>
            <a:off x="7826285" y="3888932"/>
            <a:ext cx="2281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Foundry Local</a:t>
            </a:r>
            <a:br>
              <a:rPr lang="en-US" altLang="ja-JP" sz="1200" dirty="0"/>
            </a:br>
            <a:r>
              <a:rPr lang="en-US" altLang="ja-JP" sz="1200" dirty="0"/>
              <a:t>(Inference.Service.Agent.exe)</a:t>
            </a:r>
            <a:endParaRPr kumimoji="1" lang="ja-JP" altLang="en-US" sz="1200" dirty="0"/>
          </a:p>
        </p:txBody>
      </p:sp>
      <p:pic>
        <p:nvPicPr>
          <p:cNvPr id="41" name="Graphic 112">
            <a:extLst>
              <a:ext uri="{FF2B5EF4-FFF2-40B4-BE49-F238E27FC236}">
                <a16:creationId xmlns:a16="http://schemas.microsoft.com/office/drawing/2014/main" id="{C9188062-54C0-4385-E56A-D360AAA211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29722" y="2568129"/>
            <a:ext cx="568843" cy="568843"/>
          </a:xfrm>
          <a:prstGeom prst="rect">
            <a:avLst/>
          </a:prstGeom>
        </p:spPr>
      </p:pic>
      <p:pic>
        <p:nvPicPr>
          <p:cNvPr id="42" name="Picture 2" descr="Using Azure Search for vector search with Azure OpenAI and LangChain ·  Clemens Siebler's Blog">
            <a:extLst>
              <a:ext uri="{FF2B5EF4-FFF2-40B4-BE49-F238E27FC236}">
                <a16:creationId xmlns:a16="http://schemas.microsoft.com/office/drawing/2014/main" id="{8302EC58-4A08-0120-DDD6-7E1B473594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77315" y="2914087"/>
            <a:ext cx="472625" cy="357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グラフィックス 42">
            <a:extLst>
              <a:ext uri="{FF2B5EF4-FFF2-40B4-BE49-F238E27FC236}">
                <a16:creationId xmlns:a16="http://schemas.microsoft.com/office/drawing/2014/main" id="{F63E8135-29E6-2065-EA1B-7AA71C295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2351" y="2441028"/>
            <a:ext cx="532388" cy="532388"/>
          </a:xfrm>
          <a:prstGeom prst="rect">
            <a:avLst/>
          </a:prstGeom>
        </p:spPr>
      </p:pic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059B91A-2C1C-FE71-A20C-69DC1F44EFDF}"/>
              </a:ext>
            </a:extLst>
          </p:cNvPr>
          <p:cNvCxnSpPr>
            <a:cxnSpLocks/>
          </p:cNvCxnSpPr>
          <p:nvPr/>
        </p:nvCxnSpPr>
        <p:spPr>
          <a:xfrm flipV="1">
            <a:off x="5828556" y="3181786"/>
            <a:ext cx="1504123" cy="11092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92BF33DE-D0BF-0460-C4F6-4ADED5D89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2121" y="3853883"/>
            <a:ext cx="597727" cy="460280"/>
          </a:xfrm>
          <a:prstGeom prst="rect">
            <a:avLst/>
          </a:prstGeom>
        </p:spPr>
      </p:pic>
      <p:pic>
        <p:nvPicPr>
          <p:cNvPr id="5" name="図 4" descr="GitHub - OAI/OpenAPI-Specification: The OpenAPI Specification Repository ·  GitHub">
            <a:extLst>
              <a:ext uri="{FF2B5EF4-FFF2-40B4-BE49-F238E27FC236}">
                <a16:creationId xmlns:a16="http://schemas.microsoft.com/office/drawing/2014/main" id="{38B974D0-E43D-3483-E017-1090111191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386" y="2905906"/>
            <a:ext cx="501645" cy="50164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511AE9-E781-ED51-6DB4-CF99B9F6C459}"/>
              </a:ext>
            </a:extLst>
          </p:cNvPr>
          <p:cNvSpPr txBox="1"/>
          <p:nvPr/>
        </p:nvSpPr>
        <p:spPr>
          <a:xfrm>
            <a:off x="6346126" y="3976119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Tool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874ADB-A509-2308-09E3-B1741B8FFF8B}"/>
              </a:ext>
            </a:extLst>
          </p:cNvPr>
          <p:cNvSpPr txBox="1"/>
          <p:nvPr/>
        </p:nvSpPr>
        <p:spPr>
          <a:xfrm>
            <a:off x="5997411" y="2804465"/>
            <a:ext cx="1354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API, Data, Agent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2187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A116D82-C372-9BF5-C0C5-469FB98A8C56}"/>
              </a:ext>
            </a:extLst>
          </p:cNvPr>
          <p:cNvSpPr/>
          <p:nvPr/>
        </p:nvSpPr>
        <p:spPr bwMode="auto">
          <a:xfrm>
            <a:off x="2037719" y="3815336"/>
            <a:ext cx="8780663" cy="2577693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ja-JP" altLang="en-US" dirty="0">
              <a:solidFill>
                <a:schemeClr val="tx2"/>
              </a:solidFill>
              <a:cs typeface="Segoe UI" pitchFamily="34" charset="0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2C11739-02E8-4228-8F79-61581FC0672D}"/>
              </a:ext>
            </a:extLst>
          </p:cNvPr>
          <p:cNvSpPr/>
          <p:nvPr/>
        </p:nvSpPr>
        <p:spPr>
          <a:xfrm>
            <a:off x="2988942" y="5424508"/>
            <a:ext cx="1338294" cy="4265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.NET 10</a:t>
            </a:r>
            <a:endParaRPr kumimoji="1" lang="ja-JP" altLang="en-US" sz="14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65B743F-C51A-C8A7-6C2C-D0EC2BEC773B}"/>
              </a:ext>
            </a:extLst>
          </p:cNvPr>
          <p:cNvSpPr/>
          <p:nvPr/>
        </p:nvSpPr>
        <p:spPr>
          <a:xfrm>
            <a:off x="2988942" y="4928494"/>
            <a:ext cx="1338294" cy="4265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MAF</a:t>
            </a:r>
            <a:endParaRPr kumimoji="1" lang="ja-JP" altLang="en-US" sz="14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F93A867-A069-8643-FB49-1B1FAC2E7EB0}"/>
              </a:ext>
            </a:extLst>
          </p:cNvPr>
          <p:cNvSpPr/>
          <p:nvPr/>
        </p:nvSpPr>
        <p:spPr>
          <a:xfrm>
            <a:off x="2988942" y="4428112"/>
            <a:ext cx="1338294" cy="4265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Agent</a:t>
            </a:r>
            <a:endParaRPr kumimoji="1" lang="ja-JP" altLang="en-US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74E04C0-BEB7-AF53-87BE-C6A36D35DD23}"/>
              </a:ext>
            </a:extLst>
          </p:cNvPr>
          <p:cNvSpPr/>
          <p:nvPr/>
        </p:nvSpPr>
        <p:spPr>
          <a:xfrm>
            <a:off x="2789470" y="4302411"/>
            <a:ext cx="1753507" cy="168354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5674C17-8521-E757-B295-8ACD011EC4BD}"/>
              </a:ext>
            </a:extLst>
          </p:cNvPr>
          <p:cNvSpPr/>
          <p:nvPr/>
        </p:nvSpPr>
        <p:spPr>
          <a:xfrm>
            <a:off x="2557551" y="4086721"/>
            <a:ext cx="226324" cy="21569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1F8802-F66C-24F7-EA1F-F3D748832892}"/>
              </a:ext>
            </a:extLst>
          </p:cNvPr>
          <p:cNvSpPr txBox="1"/>
          <p:nvPr/>
        </p:nvSpPr>
        <p:spPr>
          <a:xfrm>
            <a:off x="3268955" y="5969708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Agent App</a:t>
            </a:r>
            <a:endParaRPr kumimoji="1" lang="ja-JP" altLang="en-US" sz="1200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CF6414F-5EF5-5D89-EE58-FCDAF8A47278}"/>
              </a:ext>
            </a:extLst>
          </p:cNvPr>
          <p:cNvCxnSpPr>
            <a:cxnSpLocks/>
          </p:cNvCxnSpPr>
          <p:nvPr/>
        </p:nvCxnSpPr>
        <p:spPr>
          <a:xfrm flipV="1">
            <a:off x="4676563" y="5141781"/>
            <a:ext cx="3546645" cy="105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図 12">
            <a:extLst>
              <a:ext uri="{FF2B5EF4-FFF2-40B4-BE49-F238E27FC236}">
                <a16:creationId xmlns:a16="http://schemas.microsoft.com/office/drawing/2014/main" id="{CF35E593-CE7E-BA98-D6B7-8C91200BB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172" y="4892158"/>
            <a:ext cx="597727" cy="460280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C5520A2-6682-38A0-B8EF-27E44E76B9C5}"/>
              </a:ext>
            </a:extLst>
          </p:cNvPr>
          <p:cNvSpPr txBox="1"/>
          <p:nvPr/>
        </p:nvSpPr>
        <p:spPr>
          <a:xfrm>
            <a:off x="4793172" y="5377777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Tool</a:t>
            </a:r>
            <a:endParaRPr kumimoji="1" lang="ja-JP" altLang="en-US" sz="1200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0631C30F-9396-E79B-00C4-1CD1E2B27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281" y="3406050"/>
            <a:ext cx="882198" cy="88418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E109DBD-B5FE-E84E-7E1A-D4E72F5EF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455" y="4124095"/>
            <a:ext cx="546225" cy="801130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F8AEAC18-0A7E-458B-61DB-72D4C65A51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03" y="5514730"/>
            <a:ext cx="765082" cy="731977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B6594FB-8557-13DA-7591-1C50DF44FAE7}"/>
              </a:ext>
            </a:extLst>
          </p:cNvPr>
          <p:cNvSpPr txBox="1"/>
          <p:nvPr/>
        </p:nvSpPr>
        <p:spPr>
          <a:xfrm>
            <a:off x="5768571" y="4025412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On-Premise Network</a:t>
            </a:r>
            <a:endParaRPr kumimoji="1" lang="ja-JP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BA7555F1-1719-2FE9-2C17-DB8400EF1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0794" y="4211330"/>
            <a:ext cx="779470" cy="779470"/>
          </a:xfrm>
          <a:prstGeom prst="rect">
            <a:avLst/>
          </a:prstGeom>
        </p:spPr>
      </p:pic>
      <p:pic>
        <p:nvPicPr>
          <p:cNvPr id="21" name="Graphic 112">
            <a:extLst>
              <a:ext uri="{FF2B5EF4-FFF2-40B4-BE49-F238E27FC236}">
                <a16:creationId xmlns:a16="http://schemas.microsoft.com/office/drawing/2014/main" id="{F73AEDA0-0A0B-DFA9-002E-3137BDF4AB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49937" y="5364996"/>
            <a:ext cx="688300" cy="688300"/>
          </a:xfrm>
          <a:prstGeom prst="rect">
            <a:avLst/>
          </a:prstGeom>
        </p:spPr>
      </p:pic>
      <p:pic>
        <p:nvPicPr>
          <p:cNvPr id="22" name="図 21" descr="GitHub - OAI/OpenAPI-Specification: The OpenAPI Specification Repository ·  GitHub">
            <a:extLst>
              <a:ext uri="{FF2B5EF4-FFF2-40B4-BE49-F238E27FC236}">
                <a16:creationId xmlns:a16="http://schemas.microsoft.com/office/drawing/2014/main" id="{9CE924AB-6CBD-417B-55D9-82CD18ABAD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24814" y="5352438"/>
            <a:ext cx="606991" cy="606991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E9644B-9D70-583C-5C05-AAE973DE6445}"/>
              </a:ext>
            </a:extLst>
          </p:cNvPr>
          <p:cNvSpPr txBox="1"/>
          <p:nvPr/>
        </p:nvSpPr>
        <p:spPr>
          <a:xfrm>
            <a:off x="8363266" y="5056374"/>
            <a:ext cx="2315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Datacenter Server, Data, APIs</a:t>
            </a:r>
            <a:endParaRPr kumimoji="1" lang="ja-JP" altLang="en-US" sz="1200" dirty="0"/>
          </a:p>
        </p:txBody>
      </p:sp>
      <p:sp>
        <p:nvSpPr>
          <p:cNvPr id="24" name="思考の吹き出し: 雲形 23">
            <a:extLst>
              <a:ext uri="{FF2B5EF4-FFF2-40B4-BE49-F238E27FC236}">
                <a16:creationId xmlns:a16="http://schemas.microsoft.com/office/drawing/2014/main" id="{E0D85EB8-D470-13A3-8A78-5D69D3761586}"/>
              </a:ext>
            </a:extLst>
          </p:cNvPr>
          <p:cNvSpPr/>
          <p:nvPr/>
        </p:nvSpPr>
        <p:spPr>
          <a:xfrm>
            <a:off x="2215224" y="1211450"/>
            <a:ext cx="2839359" cy="1460259"/>
          </a:xfrm>
          <a:prstGeom prst="cloudCallout">
            <a:avLst>
              <a:gd name="adj1" fmla="val -47889"/>
              <a:gd name="adj2" fmla="val 1462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6" name="Picture 2" descr="Using Azure Search for vector search with Azure OpenAI and LangChain ·  Clemens Siebler's Blog">
            <a:extLst>
              <a:ext uri="{FF2B5EF4-FFF2-40B4-BE49-F238E27FC236}">
                <a16:creationId xmlns:a16="http://schemas.microsoft.com/office/drawing/2014/main" id="{FDE1EB7E-1D95-B4E8-0798-F67AC22940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07528" y="1744965"/>
            <a:ext cx="519888" cy="39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06AE649-25EE-21F7-4540-39CC0483EAC8}"/>
              </a:ext>
            </a:extLst>
          </p:cNvPr>
          <p:cNvCxnSpPr>
            <a:cxnSpLocks/>
          </p:cNvCxnSpPr>
          <p:nvPr/>
        </p:nvCxnSpPr>
        <p:spPr>
          <a:xfrm flipV="1">
            <a:off x="3666223" y="2971265"/>
            <a:ext cx="0" cy="124211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44" descr="A blue triangle logo on a black background&#10;&#10;AI-generated content may be incorrect.">
            <a:extLst>
              <a:ext uri="{FF2B5EF4-FFF2-40B4-BE49-F238E27FC236}">
                <a16:creationId xmlns:a16="http://schemas.microsoft.com/office/drawing/2014/main" id="{1F721C5A-107F-6088-1829-DFA26637BE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52" y="2364288"/>
            <a:ext cx="676853" cy="676853"/>
          </a:xfrm>
          <a:prstGeom prst="rect">
            <a:avLst/>
          </a:prstGeom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837E5000-EF4F-8D04-360B-1A9163FBE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6000"/>
                    </a14:imgEffect>
                  </a14:imgLayer>
                </a14:imgProps>
              </a:ext>
            </a:extLst>
          </a:blip>
          <a:srcRect l="19282" t="26458" r="72760" b="63151"/>
          <a:stretch/>
        </p:blipFill>
        <p:spPr>
          <a:xfrm>
            <a:off x="3510515" y="1979877"/>
            <a:ext cx="378525" cy="268748"/>
          </a:xfrm>
          <a:prstGeom prst="rect">
            <a:avLst/>
          </a:prstGeom>
        </p:spPr>
      </p:pic>
      <p:pic>
        <p:nvPicPr>
          <p:cNvPr id="36" name="Picture 2" descr="Meta logo">
            <a:extLst>
              <a:ext uri="{FF2B5EF4-FFF2-40B4-BE49-F238E27FC236}">
                <a16:creationId xmlns:a16="http://schemas.microsoft.com/office/drawing/2014/main" id="{754C858A-0CC1-5356-619A-D37BF529B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723" y="1394817"/>
            <a:ext cx="509383" cy="50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Mistral AI logo">
            <a:extLst>
              <a:ext uri="{FF2B5EF4-FFF2-40B4-BE49-F238E27FC236}">
                <a16:creationId xmlns:a16="http://schemas.microsoft.com/office/drawing/2014/main" id="{54FE6751-4CC9-D586-0CF7-716BF3D7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837" y="1820923"/>
            <a:ext cx="355777" cy="3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図 37" descr="ロゴ, 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EDD8CC3-D2B1-14A1-9116-8C899CFD80AA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1397" y="1406041"/>
            <a:ext cx="307193" cy="307193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A11EC03-8580-F982-0AE5-5B03CD24016F}"/>
              </a:ext>
            </a:extLst>
          </p:cNvPr>
          <p:cNvSpPr txBox="1"/>
          <p:nvPr/>
        </p:nvSpPr>
        <p:spPr>
          <a:xfrm>
            <a:off x="3889040" y="2529010"/>
            <a:ext cx="1515479" cy="463460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kumimoji="1" lang="en-US" altLang="ja-JP" sz="12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Foundry Models</a:t>
            </a:r>
            <a:endParaRPr kumimoji="1" lang="ja-JP" altLang="en-US" sz="1200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9555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78</Words>
  <Application>Microsoft Office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Ayumu Inaba</dc:creator>
  <cp:lastModifiedBy>Ayumu Inaba</cp:lastModifiedBy>
  <cp:revision>10</cp:revision>
  <dcterms:created xsi:type="dcterms:W3CDTF">2026-04-08T23:52:09Z</dcterms:created>
  <dcterms:modified xsi:type="dcterms:W3CDTF">2026-04-12T02:08:38Z</dcterms:modified>
</cp:coreProperties>
</file>